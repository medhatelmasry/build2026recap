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435F98-D486-5B44-8AB5-105277A59E36}" v="34" dt="2026-07-16T18:45:48.7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89"/>
    <p:restoredTop sz="83821"/>
  </p:normalViewPr>
  <p:slideViewPr>
    <p:cSldViewPr snapToGrid="0">
      <p:cViewPr varScale="1">
        <p:scale>
          <a:sx n="103" d="100"/>
          <a:sy n="103" d="100"/>
        </p:scale>
        <p:origin x="8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06F46C-1110-C243-A156-E25D295F688B}" type="datetimeFigureOut">
              <a:rPr lang="en-US" smtClean="0"/>
              <a:t>7/28/26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143C1F-DBF7-F440-AB5E-5B99EA09D6F7}" type="slidenum">
              <a:rPr lang="en-US" smtClean="0"/>
              <a:t>‹#›</a:t>
            </a:fld>
            <a:endParaRPr lang="en-US"/>
          </a:p>
        </p:txBody>
      </p:sp>
    </p:spTree>
    <p:extLst>
      <p:ext uri="{BB962C8B-B14F-4D97-AF65-F5344CB8AC3E}">
        <p14:creationId xmlns:p14="http://schemas.microsoft.com/office/powerpoint/2010/main" val="520106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www.youtube.com</a:t>
            </a:r>
            <a:r>
              <a:rPr lang="en-US" dirty="0"/>
              <a:t>/</a:t>
            </a:r>
            <a:r>
              <a:rPr lang="en-US" dirty="0" err="1"/>
              <a:t>watch?v</a:t>
            </a:r>
            <a:r>
              <a:rPr lang="en-US" dirty="0"/>
              <a:t>=2wfd1CZphew</a:t>
            </a:r>
          </a:p>
        </p:txBody>
      </p:sp>
      <p:sp>
        <p:nvSpPr>
          <p:cNvPr id="4" name="Slide Number Placeholder 3"/>
          <p:cNvSpPr>
            <a:spLocks noGrp="1"/>
          </p:cNvSpPr>
          <p:nvPr>
            <p:ph type="sldNum" sz="quarter" idx="5"/>
          </p:nvPr>
        </p:nvSpPr>
        <p:spPr/>
        <p:txBody>
          <a:bodyPr/>
          <a:lstStyle/>
          <a:p>
            <a:fld id="{C2143C1F-DBF7-F440-AB5E-5B99EA09D6F7}" type="slidenum">
              <a:rPr lang="en-US" smtClean="0"/>
              <a:t>1</a:t>
            </a:fld>
            <a:endParaRPr lang="en-US"/>
          </a:p>
        </p:txBody>
      </p:sp>
    </p:spTree>
    <p:extLst>
      <p:ext uri="{BB962C8B-B14F-4D97-AF65-F5344CB8AC3E}">
        <p14:creationId xmlns:p14="http://schemas.microsoft.com/office/powerpoint/2010/main" val="4139022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infrastructure announcements from the Build 2026 keynote stood out of everything else. Foundry Local hit general availability.</a:t>
            </a:r>
          </a:p>
          <a:p>
            <a:endParaRPr lang="en-US" dirty="0"/>
          </a:p>
        </p:txBody>
      </p:sp>
      <p:sp>
        <p:nvSpPr>
          <p:cNvPr id="4" name="Slide Number Placeholder 3"/>
          <p:cNvSpPr>
            <a:spLocks noGrp="1"/>
          </p:cNvSpPr>
          <p:nvPr>
            <p:ph type="sldNum" sz="quarter" idx="5"/>
          </p:nvPr>
        </p:nvSpPr>
        <p:spPr/>
        <p:txBody>
          <a:bodyPr/>
          <a:lstStyle/>
          <a:p>
            <a:fld id="{C2143C1F-DBF7-F440-AB5E-5B99EA09D6F7}" type="slidenum">
              <a:rPr lang="en-US" smtClean="0"/>
              <a:t>2</a:t>
            </a:fld>
            <a:endParaRPr lang="en-US"/>
          </a:p>
        </p:txBody>
      </p:sp>
    </p:spTree>
    <p:extLst>
      <p:ext uri="{BB962C8B-B14F-4D97-AF65-F5344CB8AC3E}">
        <p14:creationId xmlns:p14="http://schemas.microsoft.com/office/powerpoint/2010/main" val="2469285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Foundry Local is a runtime you embed inside your application, about 20 MB, no separate daemon, no cloud account, no per token billing. 20MB for a runtime sounds almost too small. That is just the runtime, not the model. The model downloads on first launch, sized to the user’s hardware. Your app bundle barely grows.</a:t>
            </a:r>
          </a:p>
          <a:p>
            <a:endParaRPr lang="en-US" dirty="0"/>
          </a:p>
        </p:txBody>
      </p:sp>
      <p:sp>
        <p:nvSpPr>
          <p:cNvPr id="4" name="Slide Number Placeholder 3"/>
          <p:cNvSpPr>
            <a:spLocks noGrp="1"/>
          </p:cNvSpPr>
          <p:nvPr>
            <p:ph type="sldNum" sz="quarter" idx="5"/>
          </p:nvPr>
        </p:nvSpPr>
        <p:spPr/>
        <p:txBody>
          <a:bodyPr/>
          <a:lstStyle/>
          <a:p>
            <a:fld id="{C2143C1F-DBF7-F440-AB5E-5B99EA09D6F7}" type="slidenum">
              <a:rPr lang="en-US" smtClean="0"/>
              <a:t>3</a:t>
            </a:fld>
            <a:endParaRPr lang="en-US"/>
          </a:p>
        </p:txBody>
      </p:sp>
    </p:spTree>
    <p:extLst>
      <p:ext uri="{BB962C8B-B14F-4D97-AF65-F5344CB8AC3E}">
        <p14:creationId xmlns:p14="http://schemas.microsoft.com/office/powerpoint/2010/main" val="2247727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the API is OpenAI compatible, so existing code should mostly just work. Point it at a Foundry Local endpoint and most OpenAI SDK code works with minimal changes. Hardware detection is automatic too.</a:t>
            </a:r>
          </a:p>
          <a:p>
            <a:endParaRPr lang="en-US" dirty="0"/>
          </a:p>
        </p:txBody>
      </p:sp>
      <p:sp>
        <p:nvSpPr>
          <p:cNvPr id="4" name="Slide Number Placeholder 3"/>
          <p:cNvSpPr>
            <a:spLocks noGrp="1"/>
          </p:cNvSpPr>
          <p:nvPr>
            <p:ph type="sldNum" sz="quarter" idx="5"/>
          </p:nvPr>
        </p:nvSpPr>
        <p:spPr/>
        <p:txBody>
          <a:bodyPr/>
          <a:lstStyle/>
          <a:p>
            <a:fld id="{C2143C1F-DBF7-F440-AB5E-5B99EA09D6F7}" type="slidenum">
              <a:rPr lang="en-US" smtClean="0"/>
              <a:t>4</a:t>
            </a:fld>
            <a:endParaRPr lang="en-US"/>
          </a:p>
        </p:txBody>
      </p:sp>
    </p:spTree>
    <p:extLst>
      <p:ext uri="{BB962C8B-B14F-4D97-AF65-F5344CB8AC3E}">
        <p14:creationId xmlns:p14="http://schemas.microsoft.com/office/powerpoint/2010/main" val="1171822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about Linux? That’s where a lot of developers work. CPU only for now. No GPU support, no timeline announced. That’s a real gap for the engineers most likely to reach for something like this.</a:t>
            </a:r>
          </a:p>
        </p:txBody>
      </p:sp>
      <p:sp>
        <p:nvSpPr>
          <p:cNvPr id="4" name="Slide Number Placeholder 3"/>
          <p:cNvSpPr>
            <a:spLocks noGrp="1"/>
          </p:cNvSpPr>
          <p:nvPr>
            <p:ph type="sldNum" sz="quarter" idx="5"/>
          </p:nvPr>
        </p:nvSpPr>
        <p:spPr/>
        <p:txBody>
          <a:bodyPr/>
          <a:lstStyle/>
          <a:p>
            <a:fld id="{C2143C1F-DBF7-F440-AB5E-5B99EA09D6F7}" type="slidenum">
              <a:rPr lang="en-US" smtClean="0"/>
              <a:t>5</a:t>
            </a:fld>
            <a:endParaRPr lang="en-US"/>
          </a:p>
        </p:txBody>
      </p:sp>
    </p:spTree>
    <p:extLst>
      <p:ext uri="{BB962C8B-B14F-4D97-AF65-F5344CB8AC3E}">
        <p14:creationId xmlns:p14="http://schemas.microsoft.com/office/powerpoint/2010/main" val="1481189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also making performance claims against </a:t>
            </a:r>
            <a:r>
              <a:rPr lang="en-US" dirty="0" err="1"/>
              <a:t>llama.cpp</a:t>
            </a:r>
            <a:r>
              <a:rPr lang="en-US" dirty="0"/>
              <a:t>, 3.9x faster. That’s the number, but they are comparing ONNX optimized variants against GGUF files. Those are not identical inputs. So, there is a caveat on that benchmark. The architectural advantage is real, though. No HTTP overhead, no separate process, no port conflicts. For embedding AI in a desktop, it is cleaner than running llama as a sidecar.</a:t>
            </a:r>
          </a:p>
        </p:txBody>
      </p:sp>
      <p:sp>
        <p:nvSpPr>
          <p:cNvPr id="4" name="Slide Number Placeholder 3"/>
          <p:cNvSpPr>
            <a:spLocks noGrp="1"/>
          </p:cNvSpPr>
          <p:nvPr>
            <p:ph type="sldNum" sz="quarter" idx="5"/>
          </p:nvPr>
        </p:nvSpPr>
        <p:spPr/>
        <p:txBody>
          <a:bodyPr/>
          <a:lstStyle/>
          <a:p>
            <a:fld id="{C2143C1F-DBF7-F440-AB5E-5B99EA09D6F7}" type="slidenum">
              <a:rPr lang="en-US" smtClean="0"/>
              <a:t>6</a:t>
            </a:fld>
            <a:endParaRPr lang="en-US"/>
          </a:p>
        </p:txBody>
      </p:sp>
    </p:spTree>
    <p:extLst>
      <p:ext uri="{BB962C8B-B14F-4D97-AF65-F5344CB8AC3E}">
        <p14:creationId xmlns:p14="http://schemas.microsoft.com/office/powerpoint/2010/main" val="1470034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now Polaris. This feels like the bigger business story. Polaris is Microsoft’s in-house coding model, mixture of expert's architecture, runs on their Maia accelerators. </a:t>
            </a:r>
          </a:p>
        </p:txBody>
      </p:sp>
      <p:sp>
        <p:nvSpPr>
          <p:cNvPr id="4" name="Slide Number Placeholder 3"/>
          <p:cNvSpPr>
            <a:spLocks noGrp="1"/>
          </p:cNvSpPr>
          <p:nvPr>
            <p:ph type="sldNum" sz="quarter" idx="5"/>
          </p:nvPr>
        </p:nvSpPr>
        <p:spPr/>
        <p:txBody>
          <a:bodyPr/>
          <a:lstStyle/>
          <a:p>
            <a:fld id="{C2143C1F-DBF7-F440-AB5E-5B99EA09D6F7}" type="slidenum">
              <a:rPr lang="en-US" smtClean="0"/>
              <a:t>7</a:t>
            </a:fld>
            <a:endParaRPr lang="en-US"/>
          </a:p>
        </p:txBody>
      </p:sp>
    </p:spTree>
    <p:extLst>
      <p:ext uri="{BB962C8B-B14F-4D97-AF65-F5344CB8AC3E}">
        <p14:creationId xmlns:p14="http://schemas.microsoft.com/office/powerpoint/2010/main" val="2705407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replaces GPT-4 Turbo and GitHub Copilot starting August 2026. Every Copilot subscriber just switches over. Is there an escape hatch? A 3-month fallback to GPT-4 Turbo, but only if you configure it before the cutover. After August that option disappears. </a:t>
            </a:r>
          </a:p>
        </p:txBody>
      </p:sp>
      <p:sp>
        <p:nvSpPr>
          <p:cNvPr id="4" name="Slide Number Placeholder 3"/>
          <p:cNvSpPr>
            <a:spLocks noGrp="1"/>
          </p:cNvSpPr>
          <p:nvPr>
            <p:ph type="sldNum" sz="quarter" idx="5"/>
          </p:nvPr>
        </p:nvSpPr>
        <p:spPr/>
        <p:txBody>
          <a:bodyPr/>
          <a:lstStyle/>
          <a:p>
            <a:fld id="{C2143C1F-DBF7-F440-AB5E-5B99EA09D6F7}" type="slidenum">
              <a:rPr lang="en-US" smtClean="0"/>
              <a:t>8</a:t>
            </a:fld>
            <a:endParaRPr lang="en-US"/>
          </a:p>
        </p:txBody>
      </p:sp>
    </p:spTree>
    <p:extLst>
      <p:ext uri="{BB962C8B-B14F-4D97-AF65-F5344CB8AC3E}">
        <p14:creationId xmlns:p14="http://schemas.microsoft.com/office/powerpoint/2010/main" val="450801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know about how good Polaris is? Microsoft says it beats GPT-4 Turbo on </a:t>
            </a:r>
            <a:r>
              <a:rPr lang="en-US" dirty="0" err="1"/>
              <a:t>HumanEval</a:t>
            </a:r>
            <a:r>
              <a:rPr lang="en-US" dirty="0"/>
              <a:t> and MBPP with the biggest gains on low-resource languages like Rust and Haskell. But those are Microsoft’s own benchmark numbers. Right, and they haven’t released </a:t>
            </a:r>
            <a:r>
              <a:rPr lang="en-US" dirty="0" err="1"/>
              <a:t>SweetBench</a:t>
            </a:r>
            <a:r>
              <a:rPr lang="en-US" dirty="0"/>
              <a:t> scores yet. That’s the benchmark that tracks real-world coding performance. Treat those figures as preliminary until independent testing happens. </a:t>
            </a:r>
          </a:p>
        </p:txBody>
      </p:sp>
      <p:sp>
        <p:nvSpPr>
          <p:cNvPr id="4" name="Slide Number Placeholder 3"/>
          <p:cNvSpPr>
            <a:spLocks noGrp="1"/>
          </p:cNvSpPr>
          <p:nvPr>
            <p:ph type="sldNum" sz="quarter" idx="5"/>
          </p:nvPr>
        </p:nvSpPr>
        <p:spPr/>
        <p:txBody>
          <a:bodyPr/>
          <a:lstStyle/>
          <a:p>
            <a:fld id="{C2143C1F-DBF7-F440-AB5E-5B99EA09D6F7}" type="slidenum">
              <a:rPr lang="en-US" smtClean="0"/>
              <a:t>9</a:t>
            </a:fld>
            <a:endParaRPr lang="en-US"/>
          </a:p>
        </p:txBody>
      </p:sp>
    </p:spTree>
    <p:extLst>
      <p:ext uri="{BB962C8B-B14F-4D97-AF65-F5344CB8AC3E}">
        <p14:creationId xmlns:p14="http://schemas.microsoft.com/office/powerpoint/2010/main" val="3087368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Pro subscribers get with the rollout? Multi-file context up to 100,000 lines, autonomous test generation without per-step confirmation, and parallel sub-agents in VS Code. Walk me through the parallel sub-agents part. An orchestrator splits the work across specialized sub-agents running at the same time. Linting, test generation, docs, security review, all in parallel. Results come back in a unified view.</a:t>
            </a:r>
          </a:p>
        </p:txBody>
      </p:sp>
      <p:sp>
        <p:nvSpPr>
          <p:cNvPr id="4" name="Slide Number Placeholder 3"/>
          <p:cNvSpPr>
            <a:spLocks noGrp="1"/>
          </p:cNvSpPr>
          <p:nvPr>
            <p:ph type="sldNum" sz="quarter" idx="5"/>
          </p:nvPr>
        </p:nvSpPr>
        <p:spPr/>
        <p:txBody>
          <a:bodyPr/>
          <a:lstStyle/>
          <a:p>
            <a:fld id="{C2143C1F-DBF7-F440-AB5E-5B99EA09D6F7}" type="slidenum">
              <a:rPr lang="en-US" smtClean="0"/>
              <a:t>10</a:t>
            </a:fld>
            <a:endParaRPr lang="en-US"/>
          </a:p>
        </p:txBody>
      </p:sp>
    </p:spTree>
    <p:extLst>
      <p:ext uri="{BB962C8B-B14F-4D97-AF65-F5344CB8AC3E}">
        <p14:creationId xmlns:p14="http://schemas.microsoft.com/office/powerpoint/2010/main" val="4207874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commercial logic is obvious. Every Copilot token call was an OpenAI API call. Now it runs on Microsoft’s own hardware. Right, and they haven’t said whether Copilot pricing changes. Given that enterprise customers just got surprised by the recent token billing shift, that silence is notable. </a:t>
            </a:r>
          </a:p>
        </p:txBody>
      </p:sp>
      <p:sp>
        <p:nvSpPr>
          <p:cNvPr id="4" name="Slide Number Placeholder 3"/>
          <p:cNvSpPr>
            <a:spLocks noGrp="1"/>
          </p:cNvSpPr>
          <p:nvPr>
            <p:ph type="sldNum" sz="quarter" idx="5"/>
          </p:nvPr>
        </p:nvSpPr>
        <p:spPr/>
        <p:txBody>
          <a:bodyPr/>
          <a:lstStyle/>
          <a:p>
            <a:fld id="{C2143C1F-DBF7-F440-AB5E-5B99EA09D6F7}" type="slidenum">
              <a:rPr lang="en-US" smtClean="0"/>
              <a:t>11</a:t>
            </a:fld>
            <a:endParaRPr lang="en-US"/>
          </a:p>
        </p:txBody>
      </p:sp>
    </p:spTree>
    <p:extLst>
      <p:ext uri="{BB962C8B-B14F-4D97-AF65-F5344CB8AC3E}">
        <p14:creationId xmlns:p14="http://schemas.microsoft.com/office/powerpoint/2010/main" val="507775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Azure AI Foundry GA and the Windows Agent Framework from the keynote. Foundry GA adds a visual RAG designer and per-project token budgets and Cohere, Mistral, and Stability AI in the catalog. And Agent Framework went MIT licensed, which removes the standard enterprise adoption blocker. YAML-defined agents that run the same manifest on local machine, a Windows 365 Cloud PC, or Azure Arc. Same definition file, different runtime underneath.</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2143C1F-DBF7-F440-AB5E-5B99EA09D6F7}" type="slidenum">
              <a:rPr lang="en-US" smtClean="0"/>
              <a:t>12</a:t>
            </a:fld>
            <a:endParaRPr lang="en-US"/>
          </a:p>
        </p:txBody>
      </p:sp>
    </p:spTree>
    <p:extLst>
      <p:ext uri="{BB962C8B-B14F-4D97-AF65-F5344CB8AC3E}">
        <p14:creationId xmlns:p14="http://schemas.microsoft.com/office/powerpoint/2010/main" val="3478268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big picture is Microsoft is building full ownership of the AI stack. Silicon, runtime, models, products on top. Polaris closes the last commercially important gap. Copilot is where the revenue is, and every inference call was money going to OpenAI. </a:t>
            </a:r>
          </a:p>
        </p:txBody>
      </p:sp>
      <p:sp>
        <p:nvSpPr>
          <p:cNvPr id="4" name="Slide Number Placeholder 3"/>
          <p:cNvSpPr>
            <a:spLocks noGrp="1"/>
          </p:cNvSpPr>
          <p:nvPr>
            <p:ph type="sldNum" sz="quarter" idx="5"/>
          </p:nvPr>
        </p:nvSpPr>
        <p:spPr/>
        <p:txBody>
          <a:bodyPr/>
          <a:lstStyle/>
          <a:p>
            <a:fld id="{C2143C1F-DBF7-F440-AB5E-5B99EA09D6F7}" type="slidenum">
              <a:rPr lang="en-US" smtClean="0"/>
              <a:t>13</a:t>
            </a:fld>
            <a:endParaRPr lang="en-US"/>
          </a:p>
        </p:txBody>
      </p:sp>
    </p:spTree>
    <p:extLst>
      <p:ext uri="{BB962C8B-B14F-4D97-AF65-F5344CB8AC3E}">
        <p14:creationId xmlns:p14="http://schemas.microsoft.com/office/powerpoint/2010/main" val="1016674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3-month fallback window tells something, though. Microsoft is giving enterprise customers an exit ramp. It means they are not fully confident in a clean cutover. That’s the thing to watch </a:t>
            </a:r>
            <a:r>
              <a:rPr lang="en-US"/>
              <a:t>in August 2026.</a:t>
            </a:r>
          </a:p>
        </p:txBody>
      </p:sp>
      <p:sp>
        <p:nvSpPr>
          <p:cNvPr id="4" name="Slide Number Placeholder 3"/>
          <p:cNvSpPr>
            <a:spLocks noGrp="1"/>
          </p:cNvSpPr>
          <p:nvPr>
            <p:ph type="sldNum" sz="quarter" idx="5"/>
          </p:nvPr>
        </p:nvSpPr>
        <p:spPr/>
        <p:txBody>
          <a:bodyPr/>
          <a:lstStyle/>
          <a:p>
            <a:fld id="{C2143C1F-DBF7-F440-AB5E-5B99EA09D6F7}" type="slidenum">
              <a:rPr lang="en-US" smtClean="0"/>
              <a:t>14</a:t>
            </a:fld>
            <a:endParaRPr lang="en-US"/>
          </a:p>
        </p:txBody>
      </p:sp>
    </p:spTree>
    <p:extLst>
      <p:ext uri="{BB962C8B-B14F-4D97-AF65-F5344CB8AC3E}">
        <p14:creationId xmlns:p14="http://schemas.microsoft.com/office/powerpoint/2010/main" val="1093306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A772-9D09-BF1A-E2AF-8893FC5FE0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842543-0026-8EDE-B50E-E56E87942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BB388A-3E1F-F2D1-B317-0EF055F484E2}"/>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5" name="Footer Placeholder 4">
            <a:extLst>
              <a:ext uri="{FF2B5EF4-FFF2-40B4-BE49-F238E27FC236}">
                <a16:creationId xmlns:a16="http://schemas.microsoft.com/office/drawing/2014/main" id="{BFC990E4-71C4-F73F-46A1-470ECB718C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B2472B-867A-7CB4-1D20-454FDFB482AF}"/>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1441773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09DDA-F0A6-A88A-8250-1093138DCA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0E754-97D7-6FE1-D2A8-AA4F1A2076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186A7E-1225-7430-860B-51B12CA06FE5}"/>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5" name="Footer Placeholder 4">
            <a:extLst>
              <a:ext uri="{FF2B5EF4-FFF2-40B4-BE49-F238E27FC236}">
                <a16:creationId xmlns:a16="http://schemas.microsoft.com/office/drawing/2014/main" id="{8491DD41-62A9-FC65-0711-4F6C2934F0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E21DCA-5A60-BD9C-A2E1-6508A34050FF}"/>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2768003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EF75-59FB-5D90-A99B-91A6C7E761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82F533-A64C-5D7C-4751-5632F2B7D5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0DE090-33E1-8242-ABA4-FC3068CDCB5A}"/>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5" name="Footer Placeholder 4">
            <a:extLst>
              <a:ext uri="{FF2B5EF4-FFF2-40B4-BE49-F238E27FC236}">
                <a16:creationId xmlns:a16="http://schemas.microsoft.com/office/drawing/2014/main" id="{EE92E521-5E8B-B629-F9BA-74CC978099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1E319A-9909-4F62-18E4-D55DB1308225}"/>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1144485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442AC-4285-97CB-F727-3062D0FDBB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4CA772-73C0-76BC-3AE5-8179BC8F95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4A9B9F-FB41-92DE-1A9C-C130CCD34D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0582FA-2222-5BDC-A14E-D2CC0B83D66E}"/>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6" name="Footer Placeholder 5">
            <a:extLst>
              <a:ext uri="{FF2B5EF4-FFF2-40B4-BE49-F238E27FC236}">
                <a16:creationId xmlns:a16="http://schemas.microsoft.com/office/drawing/2014/main" id="{BD057F49-ED2E-2523-E6AB-CFE6F34574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9AF68C-30C8-0DEF-B92D-C534EB9A5921}"/>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229732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49295-8D31-2BFF-A6A4-BC2359C818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404D3A-905B-FDE4-ADE9-58502A9E5A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2EED10-CC03-1773-6CAB-4B5B4F1D0E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AE74DF-FC0F-17B3-850E-596A1E26A1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8F8CE-257B-A8CF-3110-988B42D9A0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C800AF-CB2D-194C-0B5E-01AB3919755F}"/>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8" name="Footer Placeholder 7">
            <a:extLst>
              <a:ext uri="{FF2B5EF4-FFF2-40B4-BE49-F238E27FC236}">
                <a16:creationId xmlns:a16="http://schemas.microsoft.com/office/drawing/2014/main" id="{D3574753-E95D-E503-4C8D-B5476A8A9E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D1D35D-38DC-7B68-D0D0-F4837BA613B0}"/>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3514123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4A57B-A541-38D9-F960-C0C5455DE6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471C4E-43BA-596F-2883-96E9657A537C}"/>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4" name="Footer Placeholder 3">
            <a:extLst>
              <a:ext uri="{FF2B5EF4-FFF2-40B4-BE49-F238E27FC236}">
                <a16:creationId xmlns:a16="http://schemas.microsoft.com/office/drawing/2014/main" id="{79AF3284-09A3-74B0-7693-7106ED62A2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7F6387-57A3-4BA6-567E-A292E10D7D3B}"/>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3576004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0027D5-DE70-ECE7-8BE9-2CEE868F8E36}"/>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3" name="Footer Placeholder 2">
            <a:extLst>
              <a:ext uri="{FF2B5EF4-FFF2-40B4-BE49-F238E27FC236}">
                <a16:creationId xmlns:a16="http://schemas.microsoft.com/office/drawing/2014/main" id="{58406E1F-413F-9F52-904D-D297015590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7A5363-F6AE-0210-1ABE-10CD52D9BF47}"/>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3881998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58F7D-5AA9-4EB9-59DD-5EFCE2557D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A56B29-C91A-BBE4-879C-8390420485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171EA2-F7D4-F13A-DD54-9F4F57B8C3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3D3202-99F5-00CB-5712-7BC41CA7E123}"/>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6" name="Footer Placeholder 5">
            <a:extLst>
              <a:ext uri="{FF2B5EF4-FFF2-40B4-BE49-F238E27FC236}">
                <a16:creationId xmlns:a16="http://schemas.microsoft.com/office/drawing/2014/main" id="{CC337B8C-8A76-DE36-FC5A-072A96879E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412B3C-D3DE-7736-E863-16BED3F6E415}"/>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448062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6E3AD-0128-3F6D-E299-9D35802847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6724AF-0D5B-44B6-DE89-3599B85532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3A3457-C3A0-50AB-6662-8913728477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60B7CD-A3F8-AF2E-A58E-EF58BBD352D2}"/>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6" name="Footer Placeholder 5">
            <a:extLst>
              <a:ext uri="{FF2B5EF4-FFF2-40B4-BE49-F238E27FC236}">
                <a16:creationId xmlns:a16="http://schemas.microsoft.com/office/drawing/2014/main" id="{C8D40FFB-BDC3-613D-0C93-427C6C4006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92F5BC-61BD-B151-CC35-D567122CE393}"/>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1880070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4EA90-E07A-7B27-C76C-9EFD41E512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820816-5477-826B-8E12-1D18FA288A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6E76C-FA96-E7A9-760F-DF289D45852D}"/>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5" name="Footer Placeholder 4">
            <a:extLst>
              <a:ext uri="{FF2B5EF4-FFF2-40B4-BE49-F238E27FC236}">
                <a16:creationId xmlns:a16="http://schemas.microsoft.com/office/drawing/2014/main" id="{7521E9FE-B12A-4FE8-D67F-CD48C66F6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CFAD1-B7AD-5B4B-E599-618DD9D48449}"/>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171899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18AC6C-C47A-51CD-A1D7-A9A10B022A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E0AECA-46BD-31EA-9CD8-0452BE593C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2CF7BC-8A67-66A3-ED1C-9AF54CCC499B}"/>
              </a:ext>
            </a:extLst>
          </p:cNvPr>
          <p:cNvSpPr>
            <a:spLocks noGrp="1"/>
          </p:cNvSpPr>
          <p:nvPr>
            <p:ph type="dt" sz="half" idx="10"/>
          </p:nvPr>
        </p:nvSpPr>
        <p:spPr/>
        <p:txBody>
          <a:bodyPr/>
          <a:lstStyle/>
          <a:p>
            <a:fld id="{62B20AD5-25E1-724C-94F7-0A233900187F}" type="datetimeFigureOut">
              <a:rPr lang="en-US" smtClean="0"/>
              <a:t>7/28/26</a:t>
            </a:fld>
            <a:endParaRPr lang="en-US"/>
          </a:p>
        </p:txBody>
      </p:sp>
      <p:sp>
        <p:nvSpPr>
          <p:cNvPr id="5" name="Footer Placeholder 4">
            <a:extLst>
              <a:ext uri="{FF2B5EF4-FFF2-40B4-BE49-F238E27FC236}">
                <a16:creationId xmlns:a16="http://schemas.microsoft.com/office/drawing/2014/main" id="{CCAEEA4C-C6E9-6A4F-6269-ECB3DE0E0D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F427BA-492F-6212-A686-12B48030E0A6}"/>
              </a:ext>
            </a:extLst>
          </p:cNvPr>
          <p:cNvSpPr>
            <a:spLocks noGrp="1"/>
          </p:cNvSpPr>
          <p:nvPr>
            <p:ph type="sldNum" sz="quarter" idx="12"/>
          </p:nvPr>
        </p:nvSpPr>
        <p:spPr/>
        <p:txBody>
          <a:bodyPr/>
          <a:lstStyle/>
          <a:p>
            <a:fld id="{3BA93B2A-1910-064A-A87E-AE4B4CD2915F}" type="slidenum">
              <a:rPr lang="en-US" smtClean="0"/>
              <a:t>‹#›</a:t>
            </a:fld>
            <a:endParaRPr lang="en-US"/>
          </a:p>
        </p:txBody>
      </p:sp>
    </p:spTree>
    <p:extLst>
      <p:ext uri="{BB962C8B-B14F-4D97-AF65-F5344CB8AC3E}">
        <p14:creationId xmlns:p14="http://schemas.microsoft.com/office/powerpoint/2010/main" val="3972555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6DB39C-0785-DF02-A8B5-DD4C5D72FC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DA650B-DF39-F9B5-E11E-115FDD944B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827E9-1B9E-939B-98F9-F4F62E303E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B20AD5-25E1-724C-94F7-0A233900187F}" type="datetimeFigureOut">
              <a:rPr lang="en-US" smtClean="0"/>
              <a:t>7/28/26</a:t>
            </a:fld>
            <a:endParaRPr lang="en-US"/>
          </a:p>
        </p:txBody>
      </p:sp>
      <p:sp>
        <p:nvSpPr>
          <p:cNvPr id="5" name="Footer Placeholder 4">
            <a:extLst>
              <a:ext uri="{FF2B5EF4-FFF2-40B4-BE49-F238E27FC236}">
                <a16:creationId xmlns:a16="http://schemas.microsoft.com/office/drawing/2014/main" id="{8539B2AD-6209-8BCD-23F1-AF643FA11C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8679FBC-3196-820D-61ED-1E63843CEC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93B2A-1910-064A-A87E-AE4B4CD2915F}" type="slidenum">
              <a:rPr lang="en-US" smtClean="0"/>
              <a:t>‹#›</a:t>
            </a:fld>
            <a:endParaRPr lang="en-US"/>
          </a:p>
        </p:txBody>
      </p:sp>
    </p:spTree>
    <p:extLst>
      <p:ext uri="{BB962C8B-B14F-4D97-AF65-F5344CB8AC3E}">
        <p14:creationId xmlns:p14="http://schemas.microsoft.com/office/powerpoint/2010/main" val="1258293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12E6A-6933-0E5D-488C-CD41985C1E42}"/>
              </a:ext>
            </a:extLst>
          </p:cNvPr>
          <p:cNvSpPr>
            <a:spLocks noGrp="1"/>
          </p:cNvSpPr>
          <p:nvPr>
            <p:ph type="ctrTitle"/>
          </p:nvPr>
        </p:nvSpPr>
        <p:spPr/>
        <p:txBody>
          <a:bodyPr>
            <a:normAutofit/>
          </a:bodyPr>
          <a:lstStyle/>
          <a:p>
            <a:r>
              <a:rPr lang="en-US" dirty="0"/>
              <a:t>Foundry Local</a:t>
            </a:r>
          </a:p>
        </p:txBody>
      </p:sp>
      <p:sp>
        <p:nvSpPr>
          <p:cNvPr id="3" name="Subtitle 2">
            <a:extLst>
              <a:ext uri="{FF2B5EF4-FFF2-40B4-BE49-F238E27FC236}">
                <a16:creationId xmlns:a16="http://schemas.microsoft.com/office/drawing/2014/main" id="{B5DBB1E1-56E7-6A8E-C5CB-1449B0A6B503}"/>
              </a:ext>
            </a:extLst>
          </p:cNvPr>
          <p:cNvSpPr>
            <a:spLocks noGrp="1"/>
          </p:cNvSpPr>
          <p:nvPr>
            <p:ph type="subTitle" idx="1"/>
          </p:nvPr>
        </p:nvSpPr>
        <p:spPr/>
        <p:txBody>
          <a:bodyPr/>
          <a:lstStyle/>
          <a:p>
            <a:r>
              <a:rPr lang="en-US" dirty="0"/>
              <a:t>Medhat Elmasry</a:t>
            </a:r>
          </a:p>
        </p:txBody>
      </p:sp>
    </p:spTree>
    <p:extLst>
      <p:ext uri="{BB962C8B-B14F-4D97-AF65-F5344CB8AC3E}">
        <p14:creationId xmlns:p14="http://schemas.microsoft.com/office/powerpoint/2010/main" val="3117106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0FF00-AE84-06BE-C04B-4D7ADBABA873}"/>
              </a:ext>
            </a:extLst>
          </p:cNvPr>
          <p:cNvSpPr>
            <a:spLocks noGrp="1"/>
          </p:cNvSpPr>
          <p:nvPr>
            <p:ph type="title"/>
          </p:nvPr>
        </p:nvSpPr>
        <p:spPr/>
        <p:txBody>
          <a:bodyPr>
            <a:normAutofit/>
          </a:bodyPr>
          <a:lstStyle/>
          <a:p>
            <a:r>
              <a:rPr lang="en-US" dirty="0"/>
              <a:t>Two infrastructure moves at Build 2026</a:t>
            </a:r>
          </a:p>
        </p:txBody>
      </p:sp>
      <p:sp>
        <p:nvSpPr>
          <p:cNvPr id="3" name="Content Placeholder 2">
            <a:extLst>
              <a:ext uri="{FF2B5EF4-FFF2-40B4-BE49-F238E27FC236}">
                <a16:creationId xmlns:a16="http://schemas.microsoft.com/office/drawing/2014/main" id="{42D1FD79-DD85-8263-E0E0-0EFE5D4E2918}"/>
              </a:ext>
            </a:extLst>
          </p:cNvPr>
          <p:cNvSpPr>
            <a:spLocks noGrp="1"/>
          </p:cNvSpPr>
          <p:nvPr>
            <p:ph idx="1"/>
          </p:nvPr>
        </p:nvSpPr>
        <p:spPr/>
        <p:txBody>
          <a:bodyPr/>
          <a:lstStyle/>
          <a:p>
            <a:r>
              <a:rPr lang="en-US" dirty="0"/>
              <a:t>Foundry Local reaches GA: embeddable runtime for on-device AI</a:t>
            </a:r>
          </a:p>
          <a:p>
            <a:r>
              <a:rPr lang="en-US" dirty="0"/>
              <a:t>Project Polaris: in-house model to replace GPT-4 Turbo in Copilot</a:t>
            </a:r>
          </a:p>
        </p:txBody>
      </p:sp>
    </p:spTree>
    <p:extLst>
      <p:ext uri="{BB962C8B-B14F-4D97-AF65-F5344CB8AC3E}">
        <p14:creationId xmlns:p14="http://schemas.microsoft.com/office/powerpoint/2010/main" val="3734073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B6E52-3052-D09E-AC65-20F2E90C3851}"/>
              </a:ext>
            </a:extLst>
          </p:cNvPr>
          <p:cNvSpPr>
            <a:spLocks noGrp="1"/>
          </p:cNvSpPr>
          <p:nvPr>
            <p:ph type="title"/>
          </p:nvPr>
        </p:nvSpPr>
        <p:spPr/>
        <p:txBody>
          <a:bodyPr>
            <a:normAutofit/>
          </a:bodyPr>
          <a:lstStyle/>
          <a:p>
            <a:r>
              <a:rPr lang="en-US" dirty="0"/>
              <a:t>Foundry Local: 20 MB Embedded Runtime</a:t>
            </a:r>
          </a:p>
        </p:txBody>
      </p:sp>
      <p:sp>
        <p:nvSpPr>
          <p:cNvPr id="3" name="Content Placeholder 2">
            <a:extLst>
              <a:ext uri="{FF2B5EF4-FFF2-40B4-BE49-F238E27FC236}">
                <a16:creationId xmlns:a16="http://schemas.microsoft.com/office/drawing/2014/main" id="{F07620B8-CFB9-9BD3-0A3F-B25B796025D9}"/>
              </a:ext>
            </a:extLst>
          </p:cNvPr>
          <p:cNvSpPr>
            <a:spLocks noGrp="1"/>
          </p:cNvSpPr>
          <p:nvPr>
            <p:ph idx="1"/>
          </p:nvPr>
        </p:nvSpPr>
        <p:spPr>
          <a:xfrm>
            <a:off x="838200" y="1825625"/>
            <a:ext cx="7318248" cy="4351338"/>
          </a:xfrm>
        </p:spPr>
        <p:txBody>
          <a:bodyPr/>
          <a:lstStyle/>
          <a:p>
            <a:r>
              <a:rPr lang="en-US" dirty="0"/>
              <a:t>~20 MB runtime added to app bundle, model not included</a:t>
            </a:r>
          </a:p>
          <a:p>
            <a:r>
              <a:rPr lang="en-US" dirty="0"/>
              <a:t>No daemon process, no cloud account, no per-token billing</a:t>
            </a:r>
          </a:p>
          <a:p>
            <a:r>
              <a:rPr lang="en-US" dirty="0"/>
              <a:t>Model downloads on first launch, sized to user's hardware</a:t>
            </a:r>
          </a:p>
        </p:txBody>
      </p:sp>
      <p:sp>
        <p:nvSpPr>
          <p:cNvPr id="4" name="TextBox 3">
            <a:extLst>
              <a:ext uri="{FF2B5EF4-FFF2-40B4-BE49-F238E27FC236}">
                <a16:creationId xmlns:a16="http://schemas.microsoft.com/office/drawing/2014/main" id="{8E50B61B-0520-57C1-4820-DD8A62EBAB17}"/>
              </a:ext>
            </a:extLst>
          </p:cNvPr>
          <p:cNvSpPr txBox="1"/>
          <p:nvPr/>
        </p:nvSpPr>
        <p:spPr>
          <a:xfrm>
            <a:off x="8976561" y="2751596"/>
            <a:ext cx="2496111" cy="1077218"/>
          </a:xfrm>
          <a:prstGeom prst="rect">
            <a:avLst/>
          </a:prstGeom>
          <a:noFill/>
        </p:spPr>
        <p:txBody>
          <a:bodyPr wrap="square">
            <a:spAutoFit/>
          </a:bodyPr>
          <a:lstStyle/>
          <a:p>
            <a:r>
              <a:rPr lang="en-US" sz="4400" dirty="0"/>
              <a:t>20 MB</a:t>
            </a:r>
          </a:p>
          <a:p>
            <a:r>
              <a:rPr lang="en-US" sz="2000" dirty="0"/>
              <a:t>Runtime Bundle Size</a:t>
            </a:r>
          </a:p>
        </p:txBody>
      </p:sp>
    </p:spTree>
    <p:extLst>
      <p:ext uri="{BB962C8B-B14F-4D97-AF65-F5344CB8AC3E}">
        <p14:creationId xmlns:p14="http://schemas.microsoft.com/office/powerpoint/2010/main" val="988332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C460-B307-566A-2253-1B01711E998B}"/>
              </a:ext>
            </a:extLst>
          </p:cNvPr>
          <p:cNvSpPr>
            <a:spLocks noGrp="1"/>
          </p:cNvSpPr>
          <p:nvPr>
            <p:ph type="title"/>
          </p:nvPr>
        </p:nvSpPr>
        <p:spPr/>
        <p:txBody>
          <a:bodyPr>
            <a:normAutofit/>
          </a:bodyPr>
          <a:lstStyle/>
          <a:p>
            <a:r>
              <a:rPr lang="en-US" dirty="0"/>
              <a:t>OpenAI-Compatible API</a:t>
            </a:r>
          </a:p>
        </p:txBody>
      </p:sp>
      <p:sp>
        <p:nvSpPr>
          <p:cNvPr id="3" name="Content Placeholder 2">
            <a:extLst>
              <a:ext uri="{FF2B5EF4-FFF2-40B4-BE49-F238E27FC236}">
                <a16:creationId xmlns:a16="http://schemas.microsoft.com/office/drawing/2014/main" id="{B24066D6-ED1E-7656-5325-57570ABAA248}"/>
              </a:ext>
            </a:extLst>
          </p:cNvPr>
          <p:cNvSpPr>
            <a:spLocks noGrp="1"/>
          </p:cNvSpPr>
          <p:nvPr>
            <p:ph idx="1"/>
          </p:nvPr>
        </p:nvSpPr>
        <p:spPr/>
        <p:txBody>
          <a:bodyPr/>
          <a:lstStyle/>
          <a:p>
            <a:r>
              <a:rPr lang="en-US" dirty="0"/>
              <a:t>API-compatible with OpenAI including Responses API format</a:t>
            </a:r>
          </a:p>
          <a:p>
            <a:r>
              <a:rPr lang="en-US" dirty="0"/>
              <a:t>Existing OpenAI SDK code works with minimal changes</a:t>
            </a:r>
          </a:p>
          <a:p>
            <a:r>
              <a:rPr lang="en-US" dirty="0"/>
              <a:t>Hardware detection automatic: Windows ML, Metal, or CPU fallback</a:t>
            </a:r>
          </a:p>
        </p:txBody>
      </p:sp>
    </p:spTree>
    <p:extLst>
      <p:ext uri="{BB962C8B-B14F-4D97-AF65-F5344CB8AC3E}">
        <p14:creationId xmlns:p14="http://schemas.microsoft.com/office/powerpoint/2010/main" val="1708386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7E566-A9C3-658C-B857-7D1292739431}"/>
              </a:ext>
            </a:extLst>
          </p:cNvPr>
          <p:cNvSpPr>
            <a:spLocks noGrp="1"/>
          </p:cNvSpPr>
          <p:nvPr>
            <p:ph type="title"/>
          </p:nvPr>
        </p:nvSpPr>
        <p:spPr/>
        <p:txBody>
          <a:bodyPr/>
          <a:lstStyle/>
          <a:p>
            <a:r>
              <a:rPr lang="en-US" dirty="0"/>
              <a:t>Linux GPU Support Missing</a:t>
            </a:r>
          </a:p>
        </p:txBody>
      </p:sp>
      <p:sp>
        <p:nvSpPr>
          <p:cNvPr id="3" name="Content Placeholder 2">
            <a:extLst>
              <a:ext uri="{FF2B5EF4-FFF2-40B4-BE49-F238E27FC236}">
                <a16:creationId xmlns:a16="http://schemas.microsoft.com/office/drawing/2014/main" id="{9A3F785C-C73B-2491-353D-A00EEF017D16}"/>
              </a:ext>
            </a:extLst>
          </p:cNvPr>
          <p:cNvSpPr>
            <a:spLocks noGrp="1"/>
          </p:cNvSpPr>
          <p:nvPr>
            <p:ph idx="1"/>
          </p:nvPr>
        </p:nvSpPr>
        <p:spPr/>
        <p:txBody>
          <a:bodyPr/>
          <a:lstStyle/>
          <a:p>
            <a:r>
              <a:rPr lang="en-US" dirty="0"/>
              <a:t>Linux x64 defaults to CPU-only - no GPU acceleration</a:t>
            </a:r>
          </a:p>
          <a:p>
            <a:r>
              <a:rPr lang="en-US" dirty="0"/>
              <a:t>No timeline announced for Linux GPU support</a:t>
            </a:r>
          </a:p>
        </p:txBody>
      </p:sp>
    </p:spTree>
    <p:extLst>
      <p:ext uri="{BB962C8B-B14F-4D97-AF65-F5344CB8AC3E}">
        <p14:creationId xmlns:p14="http://schemas.microsoft.com/office/powerpoint/2010/main" val="3652841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0F3CD-5A94-4599-A619-5779E7B3566A}"/>
              </a:ext>
            </a:extLst>
          </p:cNvPr>
          <p:cNvSpPr>
            <a:spLocks noGrp="1"/>
          </p:cNvSpPr>
          <p:nvPr>
            <p:ph type="title"/>
          </p:nvPr>
        </p:nvSpPr>
        <p:spPr/>
        <p:txBody>
          <a:bodyPr/>
          <a:lstStyle/>
          <a:p>
            <a:r>
              <a:rPr lang="en-US" dirty="0"/>
              <a:t>3.9x Speed Claim vs </a:t>
            </a:r>
            <a:r>
              <a:rPr lang="en-US" dirty="0" err="1"/>
              <a:t>Ilama.cpp</a:t>
            </a:r>
            <a:endParaRPr lang="en-US" dirty="0"/>
          </a:p>
        </p:txBody>
      </p:sp>
      <p:sp>
        <p:nvSpPr>
          <p:cNvPr id="3" name="Content Placeholder 2">
            <a:extLst>
              <a:ext uri="{FF2B5EF4-FFF2-40B4-BE49-F238E27FC236}">
                <a16:creationId xmlns:a16="http://schemas.microsoft.com/office/drawing/2014/main" id="{F90C4271-7C0D-6EBE-94B9-AB5190D68B4C}"/>
              </a:ext>
            </a:extLst>
          </p:cNvPr>
          <p:cNvSpPr>
            <a:spLocks noGrp="1"/>
          </p:cNvSpPr>
          <p:nvPr>
            <p:ph idx="1"/>
          </p:nvPr>
        </p:nvSpPr>
        <p:spPr>
          <a:xfrm>
            <a:off x="838200" y="1825625"/>
            <a:ext cx="7025640" cy="4351338"/>
          </a:xfrm>
        </p:spPr>
        <p:txBody>
          <a:bodyPr/>
          <a:lstStyle/>
          <a:p>
            <a:r>
              <a:rPr lang="en-US" dirty="0"/>
              <a:t>Microsoft claims 3.9x average throughput over </a:t>
            </a:r>
            <a:r>
              <a:rPr lang="en-US" dirty="0" err="1"/>
              <a:t>llama.cpp</a:t>
            </a:r>
            <a:endParaRPr lang="en-US" dirty="0"/>
          </a:p>
          <a:p>
            <a:r>
              <a:rPr lang="en-US" dirty="0"/>
              <a:t>Comparison uses ONNX-optimized variants vs GGUF - not identical inputs</a:t>
            </a:r>
          </a:p>
          <a:p>
            <a:r>
              <a:rPr lang="en-US" dirty="0"/>
              <a:t>Architectural win: no HTTP overhead, no port conflicts, in-process</a:t>
            </a:r>
          </a:p>
        </p:txBody>
      </p:sp>
      <p:sp>
        <p:nvSpPr>
          <p:cNvPr id="4" name="TextBox 3">
            <a:extLst>
              <a:ext uri="{FF2B5EF4-FFF2-40B4-BE49-F238E27FC236}">
                <a16:creationId xmlns:a16="http://schemas.microsoft.com/office/drawing/2014/main" id="{795C36A3-8BB1-A370-AEB7-EFE5EBD0FA4F}"/>
              </a:ext>
            </a:extLst>
          </p:cNvPr>
          <p:cNvSpPr txBox="1"/>
          <p:nvPr/>
        </p:nvSpPr>
        <p:spPr>
          <a:xfrm>
            <a:off x="8510016" y="2751596"/>
            <a:ext cx="3230880" cy="1077218"/>
          </a:xfrm>
          <a:prstGeom prst="rect">
            <a:avLst/>
          </a:prstGeom>
          <a:noFill/>
        </p:spPr>
        <p:txBody>
          <a:bodyPr wrap="square">
            <a:spAutoFit/>
          </a:bodyPr>
          <a:lstStyle/>
          <a:p>
            <a:r>
              <a:rPr lang="en-US" sz="4400" dirty="0"/>
              <a:t>3.9x</a:t>
            </a:r>
          </a:p>
          <a:p>
            <a:r>
              <a:rPr lang="en-US" sz="2000" dirty="0"/>
              <a:t>Throughput vs </a:t>
            </a:r>
            <a:r>
              <a:rPr lang="en-US" sz="2000" dirty="0" err="1"/>
              <a:t>llama.cpp</a:t>
            </a:r>
            <a:endParaRPr lang="en-US" sz="2000" dirty="0"/>
          </a:p>
        </p:txBody>
      </p:sp>
    </p:spTree>
    <p:extLst>
      <p:ext uri="{BB962C8B-B14F-4D97-AF65-F5344CB8AC3E}">
        <p14:creationId xmlns:p14="http://schemas.microsoft.com/office/powerpoint/2010/main" val="4279372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5D7EA-E97F-EB62-C950-2736B3171978}"/>
              </a:ext>
            </a:extLst>
          </p:cNvPr>
          <p:cNvSpPr>
            <a:spLocks noGrp="1"/>
          </p:cNvSpPr>
          <p:nvPr>
            <p:ph type="title"/>
          </p:nvPr>
        </p:nvSpPr>
        <p:spPr/>
        <p:txBody>
          <a:bodyPr/>
          <a:lstStyle/>
          <a:p>
            <a:r>
              <a:rPr lang="en-US" dirty="0"/>
              <a:t>Project Polaris: GPT-4 Out of Copilot</a:t>
            </a:r>
          </a:p>
        </p:txBody>
      </p:sp>
      <p:sp>
        <p:nvSpPr>
          <p:cNvPr id="3" name="Content Placeholder 2">
            <a:extLst>
              <a:ext uri="{FF2B5EF4-FFF2-40B4-BE49-F238E27FC236}">
                <a16:creationId xmlns:a16="http://schemas.microsoft.com/office/drawing/2014/main" id="{68EC434C-10F0-EDC7-0370-EBE018931B5D}"/>
              </a:ext>
            </a:extLst>
          </p:cNvPr>
          <p:cNvSpPr>
            <a:spLocks noGrp="1"/>
          </p:cNvSpPr>
          <p:nvPr>
            <p:ph idx="1"/>
          </p:nvPr>
        </p:nvSpPr>
        <p:spPr>
          <a:xfrm>
            <a:off x="838200" y="1825625"/>
            <a:ext cx="7147560" cy="4351338"/>
          </a:xfrm>
        </p:spPr>
        <p:txBody>
          <a:bodyPr/>
          <a:lstStyle/>
          <a:p>
            <a:r>
              <a:rPr lang="en-US" dirty="0"/>
              <a:t>Mixture-of-experts with per-language specialized sub-modules</a:t>
            </a:r>
          </a:p>
          <a:p>
            <a:r>
              <a:rPr lang="en-US" dirty="0"/>
              <a:t>Runs on Microsoft's Maia AI accelerators inside Azure</a:t>
            </a:r>
          </a:p>
          <a:p>
            <a:r>
              <a:rPr lang="en-US" dirty="0"/>
              <a:t>All Copilot subscribers switch to Polaris starting August 2026</a:t>
            </a:r>
          </a:p>
        </p:txBody>
      </p:sp>
      <p:sp>
        <p:nvSpPr>
          <p:cNvPr id="4" name="TextBox 3">
            <a:extLst>
              <a:ext uri="{FF2B5EF4-FFF2-40B4-BE49-F238E27FC236}">
                <a16:creationId xmlns:a16="http://schemas.microsoft.com/office/drawing/2014/main" id="{6EDBD846-C5B6-84D7-8AA6-A01715662A58}"/>
              </a:ext>
            </a:extLst>
          </p:cNvPr>
          <p:cNvSpPr txBox="1"/>
          <p:nvPr/>
        </p:nvSpPr>
        <p:spPr>
          <a:xfrm>
            <a:off x="8510016" y="2751596"/>
            <a:ext cx="3230880" cy="1077218"/>
          </a:xfrm>
          <a:prstGeom prst="rect">
            <a:avLst/>
          </a:prstGeom>
          <a:noFill/>
        </p:spPr>
        <p:txBody>
          <a:bodyPr wrap="square">
            <a:spAutoFit/>
          </a:bodyPr>
          <a:lstStyle/>
          <a:p>
            <a:r>
              <a:rPr lang="en-US" sz="4400" dirty="0"/>
              <a:t>August 2020</a:t>
            </a:r>
          </a:p>
          <a:p>
            <a:r>
              <a:rPr lang="en-US" sz="2000" dirty="0"/>
              <a:t>Copilot cutover date</a:t>
            </a:r>
          </a:p>
        </p:txBody>
      </p:sp>
    </p:spTree>
    <p:extLst>
      <p:ext uri="{BB962C8B-B14F-4D97-AF65-F5344CB8AC3E}">
        <p14:creationId xmlns:p14="http://schemas.microsoft.com/office/powerpoint/2010/main" val="3805689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0ADD0-486D-26AC-27DF-767449299B9C}"/>
              </a:ext>
            </a:extLst>
          </p:cNvPr>
          <p:cNvSpPr>
            <a:spLocks noGrp="1"/>
          </p:cNvSpPr>
          <p:nvPr>
            <p:ph type="title"/>
          </p:nvPr>
        </p:nvSpPr>
        <p:spPr/>
        <p:txBody>
          <a:bodyPr/>
          <a:lstStyle/>
          <a:p>
            <a:r>
              <a:rPr lang="en-US" dirty="0"/>
              <a:t>Three-Month GPT-4 Fallback Window</a:t>
            </a:r>
          </a:p>
        </p:txBody>
      </p:sp>
      <p:sp>
        <p:nvSpPr>
          <p:cNvPr id="3" name="Content Placeholder 2">
            <a:extLst>
              <a:ext uri="{FF2B5EF4-FFF2-40B4-BE49-F238E27FC236}">
                <a16:creationId xmlns:a16="http://schemas.microsoft.com/office/drawing/2014/main" id="{485F90FD-48CB-E5C8-0D74-9591AE6A8BE5}"/>
              </a:ext>
            </a:extLst>
          </p:cNvPr>
          <p:cNvSpPr>
            <a:spLocks noGrp="1"/>
          </p:cNvSpPr>
          <p:nvPr>
            <p:ph idx="1"/>
          </p:nvPr>
        </p:nvSpPr>
        <p:spPr>
          <a:xfrm>
            <a:off x="838200" y="1825625"/>
            <a:ext cx="7306056" cy="4351338"/>
          </a:xfrm>
        </p:spPr>
        <p:txBody>
          <a:bodyPr/>
          <a:lstStyle/>
          <a:p>
            <a:r>
              <a:rPr lang="en-US" dirty="0"/>
              <a:t>GPT-4 Turbo fallback available if configured before the August cutover</a:t>
            </a:r>
          </a:p>
          <a:p>
            <a:r>
              <a:rPr lang="en-US" dirty="0"/>
              <a:t>Option disappears permanently after the cutover date</a:t>
            </a:r>
          </a:p>
        </p:txBody>
      </p:sp>
      <p:sp>
        <p:nvSpPr>
          <p:cNvPr id="4" name="TextBox 3">
            <a:extLst>
              <a:ext uri="{FF2B5EF4-FFF2-40B4-BE49-F238E27FC236}">
                <a16:creationId xmlns:a16="http://schemas.microsoft.com/office/drawing/2014/main" id="{7B431C27-A3BB-4E6E-FBA6-8A6494949CA5}"/>
              </a:ext>
            </a:extLst>
          </p:cNvPr>
          <p:cNvSpPr txBox="1"/>
          <p:nvPr/>
        </p:nvSpPr>
        <p:spPr>
          <a:xfrm>
            <a:off x="8510016" y="2751596"/>
            <a:ext cx="3230880" cy="1077218"/>
          </a:xfrm>
          <a:prstGeom prst="rect">
            <a:avLst/>
          </a:prstGeom>
          <a:noFill/>
        </p:spPr>
        <p:txBody>
          <a:bodyPr wrap="square">
            <a:spAutoFit/>
          </a:bodyPr>
          <a:lstStyle/>
          <a:p>
            <a:r>
              <a:rPr lang="en-US" sz="4400" dirty="0"/>
              <a:t>3 months</a:t>
            </a:r>
          </a:p>
          <a:p>
            <a:r>
              <a:rPr lang="en-US" sz="2000" dirty="0"/>
              <a:t>GPT-4 Fallback Window</a:t>
            </a:r>
          </a:p>
        </p:txBody>
      </p:sp>
    </p:spTree>
    <p:extLst>
      <p:ext uri="{BB962C8B-B14F-4D97-AF65-F5344CB8AC3E}">
        <p14:creationId xmlns:p14="http://schemas.microsoft.com/office/powerpoint/2010/main" val="2075233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3E10-5EA9-E9BB-B59B-BF05FAEE30B3}"/>
              </a:ext>
            </a:extLst>
          </p:cNvPr>
          <p:cNvSpPr>
            <a:spLocks noGrp="1"/>
          </p:cNvSpPr>
          <p:nvPr>
            <p:ph type="title"/>
          </p:nvPr>
        </p:nvSpPr>
        <p:spPr/>
        <p:txBody>
          <a:bodyPr/>
          <a:lstStyle/>
          <a:p>
            <a:r>
              <a:rPr lang="en-US" dirty="0"/>
              <a:t>Polaris Benchmarks: Unverified</a:t>
            </a:r>
          </a:p>
        </p:txBody>
      </p:sp>
      <p:sp>
        <p:nvSpPr>
          <p:cNvPr id="3" name="Content Placeholder 2">
            <a:extLst>
              <a:ext uri="{FF2B5EF4-FFF2-40B4-BE49-F238E27FC236}">
                <a16:creationId xmlns:a16="http://schemas.microsoft.com/office/drawing/2014/main" id="{B80E5949-5284-3B4C-56B7-18F104375629}"/>
              </a:ext>
            </a:extLst>
          </p:cNvPr>
          <p:cNvSpPr>
            <a:spLocks noGrp="1"/>
          </p:cNvSpPr>
          <p:nvPr>
            <p:ph idx="1"/>
          </p:nvPr>
        </p:nvSpPr>
        <p:spPr/>
        <p:txBody>
          <a:bodyPr/>
          <a:lstStyle/>
          <a:p>
            <a:r>
              <a:rPr lang="en-US" dirty="0"/>
              <a:t>Microsoft reports </a:t>
            </a:r>
            <a:r>
              <a:rPr lang="en-US" dirty="0" err="1"/>
              <a:t>HumanEval</a:t>
            </a:r>
            <a:r>
              <a:rPr lang="en-US" dirty="0"/>
              <a:t> and MBPP gains over GPT-4 Turbo</a:t>
            </a:r>
          </a:p>
          <a:p>
            <a:r>
              <a:rPr lang="en-US" dirty="0"/>
              <a:t>Largest improvements on low-resource languages: Rust and Haskell</a:t>
            </a:r>
          </a:p>
          <a:p>
            <a:r>
              <a:rPr lang="en-US" dirty="0"/>
              <a:t>SWE-bench Verified scores not disclosed - figures are preliminary</a:t>
            </a:r>
          </a:p>
        </p:txBody>
      </p:sp>
    </p:spTree>
    <p:extLst>
      <p:ext uri="{BB962C8B-B14F-4D97-AF65-F5344CB8AC3E}">
        <p14:creationId xmlns:p14="http://schemas.microsoft.com/office/powerpoint/2010/main" val="1482693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A5E8E-7C74-EE3B-A224-21B68BBB718A}"/>
              </a:ext>
            </a:extLst>
          </p:cNvPr>
          <p:cNvSpPr>
            <a:spLocks noGrp="1"/>
          </p:cNvSpPr>
          <p:nvPr>
            <p:ph type="title"/>
          </p:nvPr>
        </p:nvSpPr>
        <p:spPr/>
        <p:txBody>
          <a:bodyPr/>
          <a:lstStyle/>
          <a:p>
            <a:r>
              <a:rPr lang="en-US" dirty="0"/>
              <a:t>Copilot Pro: New Capabilities</a:t>
            </a:r>
          </a:p>
        </p:txBody>
      </p:sp>
      <p:sp>
        <p:nvSpPr>
          <p:cNvPr id="3" name="Content Placeholder 2">
            <a:extLst>
              <a:ext uri="{FF2B5EF4-FFF2-40B4-BE49-F238E27FC236}">
                <a16:creationId xmlns:a16="http://schemas.microsoft.com/office/drawing/2014/main" id="{DC08AC18-F3FD-5101-CA06-C1B5363F1B42}"/>
              </a:ext>
            </a:extLst>
          </p:cNvPr>
          <p:cNvSpPr>
            <a:spLocks noGrp="1"/>
          </p:cNvSpPr>
          <p:nvPr>
            <p:ph idx="1"/>
          </p:nvPr>
        </p:nvSpPr>
        <p:spPr>
          <a:xfrm>
            <a:off x="838200" y="1825625"/>
            <a:ext cx="7074408" cy="4351338"/>
          </a:xfrm>
        </p:spPr>
        <p:txBody>
          <a:bodyPr/>
          <a:lstStyle/>
          <a:p>
            <a:r>
              <a:rPr lang="en-US" dirty="0"/>
              <a:t>Multi-file context up to 100,000 lines across a repository</a:t>
            </a:r>
          </a:p>
          <a:p>
            <a:r>
              <a:rPr lang="en-US" dirty="0"/>
              <a:t>Autonomous test generation without per-step confirmation prompts</a:t>
            </a:r>
          </a:p>
          <a:p>
            <a:r>
              <a:rPr lang="en-US" dirty="0"/>
              <a:t>VS Code parallel subagents: linting, test gen, docs, security review</a:t>
            </a:r>
          </a:p>
        </p:txBody>
      </p:sp>
      <p:sp>
        <p:nvSpPr>
          <p:cNvPr id="4" name="TextBox 3">
            <a:extLst>
              <a:ext uri="{FF2B5EF4-FFF2-40B4-BE49-F238E27FC236}">
                <a16:creationId xmlns:a16="http://schemas.microsoft.com/office/drawing/2014/main" id="{1EBBDE7E-26E8-32B0-C789-466533CCA392}"/>
              </a:ext>
            </a:extLst>
          </p:cNvPr>
          <p:cNvSpPr txBox="1"/>
          <p:nvPr/>
        </p:nvSpPr>
        <p:spPr>
          <a:xfrm>
            <a:off x="8510016" y="2751596"/>
            <a:ext cx="3230880" cy="1077218"/>
          </a:xfrm>
          <a:prstGeom prst="rect">
            <a:avLst/>
          </a:prstGeom>
          <a:noFill/>
        </p:spPr>
        <p:txBody>
          <a:bodyPr wrap="square">
            <a:spAutoFit/>
          </a:bodyPr>
          <a:lstStyle/>
          <a:p>
            <a:r>
              <a:rPr lang="en-US" sz="4400" dirty="0"/>
              <a:t>100k lines</a:t>
            </a:r>
          </a:p>
          <a:p>
            <a:r>
              <a:rPr lang="en-US" sz="2000" dirty="0"/>
              <a:t>Multi-file context window</a:t>
            </a:r>
          </a:p>
        </p:txBody>
      </p:sp>
    </p:spTree>
    <p:extLst>
      <p:ext uri="{BB962C8B-B14F-4D97-AF65-F5344CB8AC3E}">
        <p14:creationId xmlns:p14="http://schemas.microsoft.com/office/powerpoint/2010/main" val="2447974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9FCE3-4FB9-D4AC-39CE-AE189539AAA6}"/>
              </a:ext>
            </a:extLst>
          </p:cNvPr>
          <p:cNvSpPr>
            <a:spLocks noGrp="1"/>
          </p:cNvSpPr>
          <p:nvPr>
            <p:ph type="title"/>
          </p:nvPr>
        </p:nvSpPr>
        <p:spPr/>
        <p:txBody>
          <a:bodyPr/>
          <a:lstStyle/>
          <a:p>
            <a:r>
              <a:rPr lang="en-US" dirty="0"/>
              <a:t>Commercial Logic: Cutting OpenAI Costs</a:t>
            </a:r>
          </a:p>
        </p:txBody>
      </p:sp>
      <p:sp>
        <p:nvSpPr>
          <p:cNvPr id="3" name="Content Placeholder 2">
            <a:extLst>
              <a:ext uri="{FF2B5EF4-FFF2-40B4-BE49-F238E27FC236}">
                <a16:creationId xmlns:a16="http://schemas.microsoft.com/office/drawing/2014/main" id="{3C42A00A-342B-582B-766A-E1A905D8BF99}"/>
              </a:ext>
            </a:extLst>
          </p:cNvPr>
          <p:cNvSpPr>
            <a:spLocks noGrp="1"/>
          </p:cNvSpPr>
          <p:nvPr>
            <p:ph idx="1"/>
          </p:nvPr>
        </p:nvSpPr>
        <p:spPr/>
        <p:txBody>
          <a:bodyPr/>
          <a:lstStyle/>
          <a:p>
            <a:r>
              <a:rPr lang="en-US" dirty="0"/>
              <a:t>Every Copilot inference was previously an </a:t>
            </a:r>
            <a:r>
              <a:rPr lang="en-US" dirty="0" err="1"/>
              <a:t>OpenAl</a:t>
            </a:r>
            <a:r>
              <a:rPr lang="en-US" dirty="0"/>
              <a:t> API call</a:t>
            </a:r>
          </a:p>
          <a:p>
            <a:r>
              <a:rPr lang="en-US" dirty="0"/>
              <a:t>Polaris runs on Microsoft's own Maia infrastructure - no OpenAI API cost</a:t>
            </a:r>
          </a:p>
          <a:p>
            <a:r>
              <a:rPr lang="en-US" dirty="0"/>
              <a:t>Copilot pricing unchanged despite enterprise token billing shock</a:t>
            </a:r>
          </a:p>
        </p:txBody>
      </p:sp>
    </p:spTree>
    <p:extLst>
      <p:ext uri="{BB962C8B-B14F-4D97-AF65-F5344CB8AC3E}">
        <p14:creationId xmlns:p14="http://schemas.microsoft.com/office/powerpoint/2010/main" val="3936749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45D5F-14AE-7520-834D-FAED979B3212}"/>
              </a:ext>
            </a:extLst>
          </p:cNvPr>
          <p:cNvSpPr>
            <a:spLocks noGrp="1"/>
          </p:cNvSpPr>
          <p:nvPr>
            <p:ph type="title"/>
          </p:nvPr>
        </p:nvSpPr>
        <p:spPr/>
        <p:txBody>
          <a:bodyPr/>
          <a:lstStyle/>
          <a:p>
            <a:r>
              <a:rPr lang="en-US" dirty="0"/>
              <a:t>Azure Foundry GA and Agent Framework</a:t>
            </a:r>
          </a:p>
        </p:txBody>
      </p:sp>
      <p:sp>
        <p:nvSpPr>
          <p:cNvPr id="3" name="Content Placeholder 2">
            <a:extLst>
              <a:ext uri="{FF2B5EF4-FFF2-40B4-BE49-F238E27FC236}">
                <a16:creationId xmlns:a16="http://schemas.microsoft.com/office/drawing/2014/main" id="{B79391C6-7618-39C6-3E3A-8280E6CE69AB}"/>
              </a:ext>
            </a:extLst>
          </p:cNvPr>
          <p:cNvSpPr>
            <a:spLocks noGrp="1"/>
          </p:cNvSpPr>
          <p:nvPr>
            <p:ph idx="1"/>
          </p:nvPr>
        </p:nvSpPr>
        <p:spPr/>
        <p:txBody>
          <a:bodyPr/>
          <a:lstStyle/>
          <a:p>
            <a:r>
              <a:rPr lang="en-US" dirty="0"/>
              <a:t>Foundry GA adds visual RAG designer and per-project token budgets</a:t>
            </a:r>
          </a:p>
          <a:p>
            <a:r>
              <a:rPr lang="en-US" dirty="0"/>
              <a:t>Cohere, Mistral, and Stability AI added to first-party catalog</a:t>
            </a:r>
          </a:p>
          <a:p>
            <a:r>
              <a:rPr lang="en-US" dirty="0"/>
              <a:t>Windows Agent Framework v1.0: MIT-licensed, YAML-defined agents</a:t>
            </a:r>
          </a:p>
        </p:txBody>
      </p:sp>
    </p:spTree>
    <p:extLst>
      <p:ext uri="{BB962C8B-B14F-4D97-AF65-F5344CB8AC3E}">
        <p14:creationId xmlns:p14="http://schemas.microsoft.com/office/powerpoint/2010/main" val="66420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D7C09-0DA3-BF6D-F3D0-6BF58C99999B}"/>
              </a:ext>
            </a:extLst>
          </p:cNvPr>
          <p:cNvSpPr>
            <a:spLocks noGrp="1"/>
          </p:cNvSpPr>
          <p:nvPr>
            <p:ph type="title"/>
          </p:nvPr>
        </p:nvSpPr>
        <p:spPr/>
        <p:txBody>
          <a:bodyPr/>
          <a:lstStyle/>
          <a:p>
            <a:r>
              <a:rPr lang="en-US" dirty="0"/>
              <a:t>Full Stack Ownership by Microsoft</a:t>
            </a:r>
          </a:p>
        </p:txBody>
      </p:sp>
      <p:sp>
        <p:nvSpPr>
          <p:cNvPr id="3" name="Content Placeholder 2">
            <a:extLst>
              <a:ext uri="{FF2B5EF4-FFF2-40B4-BE49-F238E27FC236}">
                <a16:creationId xmlns:a16="http://schemas.microsoft.com/office/drawing/2014/main" id="{EA71A80B-773E-75B6-2F4F-D1F4965CED4E}"/>
              </a:ext>
            </a:extLst>
          </p:cNvPr>
          <p:cNvSpPr>
            <a:spLocks noGrp="1"/>
          </p:cNvSpPr>
          <p:nvPr>
            <p:ph idx="1"/>
          </p:nvPr>
        </p:nvSpPr>
        <p:spPr/>
        <p:txBody>
          <a:bodyPr/>
          <a:lstStyle/>
          <a:p>
            <a:r>
              <a:rPr lang="en-US" dirty="0"/>
              <a:t>Silicon (Maia) + runtime (Foundry) + models (Polaris) + products (Copilot)</a:t>
            </a:r>
          </a:p>
          <a:p>
            <a:r>
              <a:rPr lang="en-US" dirty="0"/>
              <a:t>Polaris closes the commercially critical gap - Copilot is the revenue product</a:t>
            </a:r>
          </a:p>
        </p:txBody>
      </p:sp>
    </p:spTree>
    <p:extLst>
      <p:ext uri="{BB962C8B-B14F-4D97-AF65-F5344CB8AC3E}">
        <p14:creationId xmlns:p14="http://schemas.microsoft.com/office/powerpoint/2010/main" val="782597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39CD-B7E7-50A6-7812-F2B8C1B61BC8}"/>
              </a:ext>
            </a:extLst>
          </p:cNvPr>
          <p:cNvSpPr>
            <a:spLocks noGrp="1"/>
          </p:cNvSpPr>
          <p:nvPr>
            <p:ph type="title"/>
          </p:nvPr>
        </p:nvSpPr>
        <p:spPr/>
        <p:txBody>
          <a:bodyPr/>
          <a:lstStyle/>
          <a:p>
            <a:r>
              <a:rPr lang="en-US" dirty="0"/>
              <a:t>What the Fallback Window Reveals</a:t>
            </a:r>
          </a:p>
        </p:txBody>
      </p:sp>
      <p:sp>
        <p:nvSpPr>
          <p:cNvPr id="3" name="Content Placeholder 2">
            <a:extLst>
              <a:ext uri="{FF2B5EF4-FFF2-40B4-BE49-F238E27FC236}">
                <a16:creationId xmlns:a16="http://schemas.microsoft.com/office/drawing/2014/main" id="{6D512697-9E09-2645-000A-47C3D31D46D3}"/>
              </a:ext>
            </a:extLst>
          </p:cNvPr>
          <p:cNvSpPr>
            <a:spLocks noGrp="1"/>
          </p:cNvSpPr>
          <p:nvPr>
            <p:ph idx="1"/>
          </p:nvPr>
        </p:nvSpPr>
        <p:spPr/>
        <p:txBody>
          <a:bodyPr/>
          <a:lstStyle/>
          <a:p>
            <a:r>
              <a:rPr lang="en-US" dirty="0"/>
              <a:t>Exit ramp signals Microsoft isn't fully confident in a clean </a:t>
            </a:r>
            <a:r>
              <a:rPr lang="en-US"/>
              <a:t>August 2026 cutover</a:t>
            </a:r>
            <a:endParaRPr lang="en-US" dirty="0"/>
          </a:p>
          <a:p>
            <a:r>
              <a:rPr lang="en-US" dirty="0"/>
              <a:t>Enterprise customers can avoid Polaris temporarily but not permanently</a:t>
            </a:r>
          </a:p>
        </p:txBody>
      </p:sp>
    </p:spTree>
    <p:extLst>
      <p:ext uri="{BB962C8B-B14F-4D97-AF65-F5344CB8AC3E}">
        <p14:creationId xmlns:p14="http://schemas.microsoft.com/office/powerpoint/2010/main" val="2966006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1156</Words>
  <Application>Microsoft Macintosh PowerPoint</Application>
  <PresentationFormat>Widescreen</PresentationFormat>
  <Paragraphs>89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Foundry Local</vt:lpstr>
      <vt:lpstr>Two infrastructure moves at Build 2026</vt:lpstr>
      <vt:lpstr>Foundry Local: 20 MB Embedded Runtime</vt:lpstr>
      <vt:lpstr>OpenAI-Compatible API</vt:lpstr>
      <vt:lpstr>Linux GPU Support Missing</vt:lpstr>
      <vt:lpstr>3.9x Speed Claim vs Ilama.cpp</vt:lpstr>
      <vt:lpstr>Project Polaris: GPT-4 Out of Copilot</vt:lpstr>
      <vt:lpstr>Three-Month GPT-4 Fallback Window</vt:lpstr>
      <vt:lpstr>Polaris Benchmarks: Unverified</vt:lpstr>
      <vt:lpstr>Copilot Pro: New Capabilities</vt:lpstr>
      <vt:lpstr>Commercial Logic: Cutting OpenAI Costs</vt:lpstr>
      <vt:lpstr>Azure Foundry GA and Agent Framework</vt:lpstr>
      <vt:lpstr>Full Stack Ownership by Microsoft</vt:lpstr>
      <vt:lpstr>What the Fallback Window Reveals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Medhat Elmasry</dc:creator>
  <cp:lastModifiedBy>Medhat Elmasry</cp:lastModifiedBy>
  <cp:revision>3</cp:revision>
  <dcterms:created xsi:type="dcterms:W3CDTF">2026-07-16T17:34:56Z</dcterms:created>
  <dcterms:modified xsi:type="dcterms:W3CDTF">2026-07-28T18:01:01Z</dcterms:modified>
</cp:coreProperties>
</file>